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4b325e2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84b325e2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6afadf8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6afadf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4b325e2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84b325e2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a7029f3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a7029f3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d30e1ff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d30e1f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cd59cfec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cd59cfec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4b325e2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84b325e2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8d6a743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8d6a743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cd59cfec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cd59cfec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cd59cfec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cd59cfec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cd59cfe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cd59cfe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8d6a743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8d6a743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d30e1ff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d30e1ff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42812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>
                <a:latin typeface="Calibri"/>
                <a:ea typeface="Calibri"/>
                <a:cs typeface="Calibri"/>
                <a:sym typeface="Calibri"/>
              </a:rPr>
              <a:t>Black Friday</a:t>
            </a:r>
            <a:endParaRPr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2952669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800"/>
              <a:t>Candela Oriz 914115</a:t>
            </a:r>
            <a:endParaRPr sz="1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800"/>
              <a:t>Julieta Gutman 899260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757888"/>
            <a:ext cx="7505700" cy="15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H0: No hay diferencias estadísticamente significativas en el gasto promedio durante el Black Friday según género, grupo etario y ciudad.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H1: Hay diferencias estadísticamente significativas en el gasto promedio según género, grupo etario y ciudad.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2177488"/>
            <a:ext cx="7505700" cy="21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/>
              <a:t>Objetivos: Comparar el gasto promedio entre hombres y mujeres, evaluar si la edad influye en el monto gastad</a:t>
            </a:r>
            <a:r>
              <a:rPr lang="es" sz="5200"/>
              <a:t>o y a</a:t>
            </a:r>
            <a:r>
              <a:rPr lang="es" sz="5200"/>
              <a:t>nalizar si la ciudad de residencia afecta el nivel de gasto. Estudiar posibles interacciones entre estas variables.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5200"/>
              <a:t>Podemos observar que hay valores faltantes para las variables:</a:t>
            </a:r>
            <a:endParaRPr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5200"/>
              <a:t>Product_Category_2: NA en 173638 observaciones ( 31.57 %)</a:t>
            </a:r>
            <a:endParaRPr sz="5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200"/>
              <a:t>Product_Category_3: NAs en 383247 </a:t>
            </a:r>
            <a:r>
              <a:rPr lang="es" sz="5200"/>
              <a:t>observaciones </a:t>
            </a:r>
            <a:r>
              <a:rPr lang="es" sz="5200"/>
              <a:t> ( 69.67 %)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5200"/>
              <a:t>Al no modificar el </a:t>
            </a:r>
            <a:r>
              <a:rPr lang="es" sz="5200"/>
              <a:t>análisis</a:t>
            </a:r>
            <a:r>
              <a:rPr lang="es" sz="5200"/>
              <a:t> ya que no son parte de la </a:t>
            </a:r>
            <a:r>
              <a:rPr lang="es" sz="5200"/>
              <a:t>hipótesis</a:t>
            </a:r>
            <a:r>
              <a:rPr lang="es" sz="5200"/>
              <a:t> nula,  no se modifica la media, mediana, </a:t>
            </a:r>
            <a:r>
              <a:rPr lang="es" sz="5200"/>
              <a:t>desvío</a:t>
            </a:r>
            <a:r>
              <a:rPr lang="es" sz="5200"/>
              <a:t>, </a:t>
            </a:r>
            <a:r>
              <a:rPr lang="es" sz="5200"/>
              <a:t>mínimo</a:t>
            </a:r>
            <a:r>
              <a:rPr lang="es" sz="5200"/>
              <a:t>, </a:t>
            </a:r>
            <a:r>
              <a:rPr lang="es" sz="5200"/>
              <a:t>máximo</a:t>
            </a:r>
            <a:r>
              <a:rPr lang="es" sz="5200"/>
              <a:t> ni los cuartiles.</a:t>
            </a:r>
            <a:endParaRPr sz="5200"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17143"/>
          <a:stretch/>
        </p:blipFill>
        <p:spPr>
          <a:xfrm>
            <a:off x="2358725" y="4413574"/>
            <a:ext cx="4426549" cy="4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87875" y="723700"/>
            <a:ext cx="3707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Primeros resultados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 rotWithShape="1">
          <a:blip r:embed="rId3">
            <a:alphaModFix/>
          </a:blip>
          <a:srcRect b="10520" l="8061" r="4693" t="8925"/>
          <a:stretch/>
        </p:blipFill>
        <p:spPr>
          <a:xfrm>
            <a:off x="564675" y="1945211"/>
            <a:ext cx="4138875" cy="8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 rotWithShape="1">
          <a:blip r:embed="rId4">
            <a:alphaModFix/>
          </a:blip>
          <a:srcRect b="5176" l="6865" r="3736" t="5417"/>
          <a:stretch/>
        </p:blipFill>
        <p:spPr>
          <a:xfrm>
            <a:off x="4995100" y="2269962"/>
            <a:ext cx="3559350" cy="22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 rotWithShape="1">
          <a:blip r:embed="rId5">
            <a:alphaModFix/>
          </a:blip>
          <a:srcRect b="9478" l="6691" r="1766" t="13462"/>
          <a:stretch/>
        </p:blipFill>
        <p:spPr>
          <a:xfrm>
            <a:off x="4960012" y="791497"/>
            <a:ext cx="3629525" cy="10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408075" y="3090350"/>
            <a:ext cx="4466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Se detectó un 0.49% de outliers utilizando el método IQR. Sin embargo, el Z-score no identificó ningún caso extremo, lo que indica que los valores altos corresponden a compras válidas y no a errores de carga. Dado que el porcentaje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es bajo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y los valores representan montos reales, los outliers no fueron eliminados.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393925" y="1081152"/>
            <a:ext cx="6366900" cy="33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s" sz="17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s" sz="17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stadísticos</a:t>
            </a:r>
            <a:endParaRPr sz="17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Realizamos </a:t>
            </a: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el test de Shapiro-Wilk el cual rechaza la hipótesis de normalidad por el tamaño de la muestra, pero los valores de asimetría 0.60 y curtosis 2.66 indican que la distribución del gasto presenta un comportamiento aproximadamente normal.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realizó el test de Levene y tanto género, edad, ciudad y productos de la categoría 1 no cumplen con homocedasticidad.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Debido a que no se cumple homocedasticidad, se aplicaron pruebas no paramétricas. El test de Wilcoxon nos indica que la distribución del gasto difiere significativamente entre hombres y mujeres, por lo que se rechaza la hipótesis nula de igualdad entre grupos. El test de Kruskal-Wallis indica que el nivel de gasto difiere significativamente entre los distintos grupos de edad, categorías de ciudad (A, B, C) y entre productos de la categoría 1.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consecuencia, se concluye que existe una diferencia estadísticamente significativa en el nivel de gasto entre hombres y mujeres, grupos de edad , ciudades y productos de la categoría 1 en el Black Friday.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Regresión</a:t>
            </a:r>
            <a:r>
              <a:rPr lang="es"/>
              <a:t> lineal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29974" y="1846346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</a:t>
            </a:r>
            <a:r>
              <a:rPr lang="es"/>
              <a:t>comparar</a:t>
            </a:r>
            <a:r>
              <a:rPr lang="es"/>
              <a:t> la </a:t>
            </a:r>
            <a:r>
              <a:rPr lang="es"/>
              <a:t>regresión</a:t>
            </a:r>
            <a:r>
              <a:rPr lang="es"/>
              <a:t> </a:t>
            </a:r>
            <a:r>
              <a:rPr lang="es"/>
              <a:t>lineal</a:t>
            </a:r>
            <a:r>
              <a:rPr lang="es"/>
              <a:t> base con la completa, el R^2 ajustado pasa de 0,816% a 63,947% por lo Product_Category_1 es una variable muy importante para explicar el gasto durante el Black Friday.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Por lo que podemos decir que la </a:t>
            </a:r>
            <a:r>
              <a:rPr lang="es"/>
              <a:t>categoría</a:t>
            </a:r>
            <a:r>
              <a:rPr lang="es"/>
              <a:t> del </a:t>
            </a:r>
            <a:r>
              <a:rPr lang="es"/>
              <a:t>producto</a:t>
            </a:r>
            <a:r>
              <a:rPr lang="es"/>
              <a:t> tiene efectos muy fuertes sobre el gasto. A su vez puede ser un </a:t>
            </a:r>
            <a:r>
              <a:rPr lang="es"/>
              <a:t>producto</a:t>
            </a:r>
            <a:r>
              <a:rPr lang="es"/>
              <a:t> de lujo o normal por lo que influye en el precio.</a:t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216" y="3566887"/>
            <a:ext cx="6161575" cy="69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50" y="199075"/>
            <a:ext cx="5154375" cy="47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8999" t="0"/>
          <a:stretch/>
        </p:blipFill>
        <p:spPr>
          <a:xfrm>
            <a:off x="4786850" y="416550"/>
            <a:ext cx="4161551" cy="22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221800" y="2969450"/>
            <a:ext cx="37266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es significativo el coeficiente de</a:t>
            </a: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 quinto grupo de edad (51-55). Este grupo está entre los que más gastan, pero no se diferencia estadísticamente de otros grupos de edad altos cuando se controla por ciudad, género y categoría de producto.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Aclaración: Product_Category_1n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819150" y="448933"/>
            <a:ext cx="7505700" cy="3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r>
              <a:rPr lang="es"/>
              <a:t>tilizamos VIF para detectar multicolinealidad problemática entre las variables independientes del modelo, lo cual concluimos que no hay problema de multicolinealidad.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realizó el test de Chi Cuadrado el cual concluye que genero es independiente de edad, ciudad y producto.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Utilizamos Breusch-Pagan test, el cual nos dice que se detecta heterocedasticidad por lo que hay que usar errores robustos.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Hicimos errores robustos lo cual nos arroja que todos los coeficientes son significativos excepto el quinto grupo de edad (51-55).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realizó la prueba de ANOVA tipo III con errores robustos ya que existe heterocedasticidad y nos dice que todos los coeficiente son significativos por lo que aportan información útil para explicar el gasto, incluso bajo heterocedasticidad.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050" y="3553819"/>
            <a:ext cx="5031899" cy="12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97775" y="373625"/>
            <a:ext cx="2897700" cy="17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725" y="530509"/>
            <a:ext cx="5250824" cy="408249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86525" y="874195"/>
            <a:ext cx="2897700" cy="3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Aunque la diferencia en términos económicos entre hombres y mujeres no sea muy elevada, el tamaño muestral hace que esta diferencia sea estadísticamente significativa. Los hombres gastan en promedio un 8% más que las mujeres.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Mujeres: 8.735 (media) y 7.914 (mediana)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Hombres: 9.438 (media) y 8.098 (mediana)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475" y="574225"/>
            <a:ext cx="6279048" cy="399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188" y="344175"/>
            <a:ext cx="5727626" cy="445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176" y="372775"/>
            <a:ext cx="5375624" cy="439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913" y="404237"/>
            <a:ext cx="7046175" cy="433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 y limitaciones del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819150" y="1841046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Puede ser implementado este </a:t>
            </a:r>
            <a:r>
              <a:rPr lang="es" sz="1200"/>
              <a:t>análisis</a:t>
            </a:r>
            <a:r>
              <a:rPr lang="es" sz="1200"/>
              <a:t> para: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Segmentar campañas de publicidad.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O</a:t>
            </a:r>
            <a:r>
              <a:rPr lang="es" sz="1200"/>
              <a:t>ptimizar</a:t>
            </a:r>
            <a:r>
              <a:rPr lang="es" sz="1200"/>
              <a:t> estrategias de marketing.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Diseñar </a:t>
            </a:r>
            <a:r>
              <a:rPr lang="es" sz="1200"/>
              <a:t>promociones</a:t>
            </a:r>
            <a:r>
              <a:rPr lang="es" sz="1200"/>
              <a:t> </a:t>
            </a:r>
            <a:r>
              <a:rPr lang="es" sz="1200"/>
              <a:t>específicas</a:t>
            </a:r>
            <a:r>
              <a:rPr lang="es" sz="1200"/>
              <a:t> por zonas o </a:t>
            </a:r>
            <a:r>
              <a:rPr lang="es" sz="1200"/>
              <a:t>categoría</a:t>
            </a:r>
            <a:r>
              <a:rPr lang="es" sz="1200"/>
              <a:t> de producto.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Adaptar ofertas por </a:t>
            </a:r>
            <a:r>
              <a:rPr lang="es" sz="1200"/>
              <a:t>grupo</a:t>
            </a:r>
            <a:r>
              <a:rPr lang="es" sz="1200"/>
              <a:t> de edad y </a:t>
            </a:r>
            <a:r>
              <a:rPr lang="es" sz="1200"/>
              <a:t>género.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Identificar qué productos generan el mayor nivel de gasto.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/>
              <a:t>La empresas puede utilizar estas diferencias de gastos para </a:t>
            </a:r>
            <a:r>
              <a:rPr lang="es" sz="1200"/>
              <a:t>orientar</a:t>
            </a:r>
            <a:r>
              <a:rPr lang="es" sz="1200"/>
              <a:t> sus campañas o productos.</a:t>
            </a:r>
            <a:endParaRPr sz="1200"/>
          </a:p>
        </p:txBody>
      </p:sp>
      <p:sp>
        <p:nvSpPr>
          <p:cNvPr id="204" name="Google Shape;204;p25"/>
          <p:cNvSpPr txBox="1"/>
          <p:nvPr>
            <p:ph idx="2" type="body"/>
          </p:nvPr>
        </p:nvSpPr>
        <p:spPr>
          <a:xfrm>
            <a:off x="4638675" y="1841046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Algunas limitaciones que se pueden observar son: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No se controla ingreso del comprador.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No se distingue entre tipos de productos (si es de lujo, esenciales o normal).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A su vez la base de datos no específica ocupaciones o los nombres de las ciudades para tener información más específica.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Los datos son de un solo evento (Black Friday).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Al ser una muestra grande, diferencias chicas pueden tener resultados estadísticamente significativos.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1393929" y="1518630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Podemos concluir que se rechaza la H0 por lo que hay diferencias estadísticamente significativas en el gasto promedio según género, grupo etario y ciudad.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